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ierson Bold" charset="1" panose="00000000000000000000"/>
      <p:regular r:id="rId14"/>
    </p:embeddedFont>
    <p:embeddedFont>
      <p:font typeface="The Seasons Bold" charset="1" panose="00000000000000000000"/>
      <p:regular r:id="rId15"/>
    </p:embeddedFont>
    <p:embeddedFont>
      <p:font typeface="Garamond" charset="1" panose="02020404030301010803"/>
      <p:regular r:id="rId16"/>
    </p:embeddedFont>
    <p:embeddedFont>
      <p:font typeface="Muli" charset="1" panose="00000500000000000000"/>
      <p:regular r:id="rId17"/>
    </p:embeddedFont>
    <p:embeddedFont>
      <p:font typeface="Garamond Bold" charset="1" panose="020208040303070108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99053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2803055" y="4137633"/>
            <a:ext cx="7442351" cy="7080653"/>
            <a:chOff x="0" y="0"/>
            <a:chExt cx="9923135" cy="9440871"/>
          </a:xfrm>
        </p:grpSpPr>
        <p:grpSp>
          <p:nvGrpSpPr>
            <p:cNvPr name="Group 29" id="29"/>
            <p:cNvGrpSpPr/>
            <p:nvPr/>
          </p:nvGrpSpPr>
          <p:grpSpPr>
            <a:xfrm rot="-9976119">
              <a:off x="3967903" y="3239787"/>
              <a:ext cx="4106879" cy="4289407"/>
              <a:chOff x="0" y="0"/>
              <a:chExt cx="571500" cy="5969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2867B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-10800000">
              <a:off x="3876639" y="5687640"/>
              <a:ext cx="4289407" cy="3753231"/>
              <a:chOff x="0" y="0"/>
              <a:chExt cx="812800" cy="71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-10800000">
              <a:off x="5633729" y="0"/>
              <a:ext cx="4289407" cy="3753231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3E526A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7297660"/>
              <a:ext cx="6021343" cy="1315321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8863024">
              <a:off x="4411262" y="4994167"/>
              <a:ext cx="1017341" cy="1062556"/>
              <a:chOff x="0" y="0"/>
              <a:chExt cx="571500" cy="5969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6506687">
              <a:off x="861455" y="6491844"/>
              <a:ext cx="693615" cy="724442"/>
              <a:chOff x="0" y="0"/>
              <a:chExt cx="571500" cy="5969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-2429292" y="-2307693"/>
            <a:ext cx="7442351" cy="7080653"/>
            <a:chOff x="0" y="0"/>
            <a:chExt cx="9923135" cy="9440871"/>
          </a:xfrm>
        </p:grpSpPr>
        <p:grpSp>
          <p:nvGrpSpPr>
            <p:cNvPr name="Group 48" id="48"/>
            <p:cNvGrpSpPr/>
            <p:nvPr/>
          </p:nvGrpSpPr>
          <p:grpSpPr>
            <a:xfrm rot="823880">
              <a:off x="1848353" y="1911678"/>
              <a:ext cx="4106879" cy="4289407"/>
              <a:chOff x="0" y="0"/>
              <a:chExt cx="571500" cy="5969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757089" y="0"/>
              <a:ext cx="4289407" cy="3753231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2867B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5687640"/>
              <a:ext cx="4289407" cy="3753231"/>
              <a:chOff x="0" y="0"/>
              <a:chExt cx="812800" cy="7112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3901792" y="827890"/>
              <a:ext cx="6021343" cy="1315321"/>
              <a:chOff x="0" y="0"/>
              <a:chExt cx="1140985" cy="24924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1936975">
              <a:off x="4494533" y="3384148"/>
              <a:ext cx="1017341" cy="1062556"/>
              <a:chOff x="0" y="0"/>
              <a:chExt cx="571500" cy="5969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-4293312">
              <a:off x="8368065" y="2224585"/>
              <a:ext cx="693615" cy="724442"/>
              <a:chOff x="0" y="0"/>
              <a:chExt cx="571500" cy="5969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571500" cy="596900"/>
              </a:xfrm>
              <a:custGeom>
                <a:avLst/>
                <a:gdLst/>
                <a:ahLst/>
                <a:cxnLst/>
                <a:rect r="r" b="b" t="t" l="l"/>
                <a:pathLst>
                  <a:path h="596900" w="571500">
                    <a:moveTo>
                      <a:pt x="571500" y="596900"/>
                    </a:moveTo>
                    <a:lnTo>
                      <a:pt x="0" y="596900"/>
                    </a:lnTo>
                    <a:lnTo>
                      <a:pt x="0" y="0"/>
                    </a:lnTo>
                    <a:lnTo>
                      <a:pt x="571500" y="596900"/>
                    </a:lnTo>
                    <a:close/>
                  </a:path>
                </a:pathLst>
              </a:custGeom>
              <a:solidFill>
                <a:srgbClr val="6B7A8C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260350"/>
                <a:ext cx="285750" cy="335280"/>
              </a:xfrm>
              <a:prstGeom prst="rect">
                <a:avLst/>
              </a:prstGeom>
            </p:spPr>
            <p:txBody>
              <a:bodyPr anchor="ctr" rtlCol="false" tIns="52956" lIns="52956" bIns="52956" rIns="5295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66" id="66"/>
          <p:cNvSpPr/>
          <p:nvPr/>
        </p:nvSpPr>
        <p:spPr>
          <a:xfrm flipH="false" flipV="false" rot="0">
            <a:off x="1544063" y="691329"/>
            <a:ext cx="1957643" cy="1992695"/>
          </a:xfrm>
          <a:custGeom>
            <a:avLst/>
            <a:gdLst/>
            <a:ahLst/>
            <a:cxnLst/>
            <a:rect r="r" b="b" t="t" l="l"/>
            <a:pathLst>
              <a:path h="1992695" w="1957643">
                <a:moveTo>
                  <a:pt x="0" y="0"/>
                </a:moveTo>
                <a:lnTo>
                  <a:pt x="1957642" y="0"/>
                </a:lnTo>
                <a:lnTo>
                  <a:pt x="1957642" y="1992694"/>
                </a:lnTo>
                <a:lnTo>
                  <a:pt x="0" y="1992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447" t="0" r="-19126" b="-43995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711304" y="691329"/>
            <a:ext cx="1786121" cy="1761314"/>
          </a:xfrm>
          <a:custGeom>
            <a:avLst/>
            <a:gdLst/>
            <a:ahLst/>
            <a:cxnLst/>
            <a:rect r="r" b="b" t="t" l="l"/>
            <a:pathLst>
              <a:path h="1761314" w="1786121">
                <a:moveTo>
                  <a:pt x="0" y="0"/>
                </a:moveTo>
                <a:lnTo>
                  <a:pt x="1786121" y="0"/>
                </a:lnTo>
                <a:lnTo>
                  <a:pt x="1786121" y="1761314"/>
                </a:lnTo>
                <a:lnTo>
                  <a:pt x="0" y="176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2005976" y="3413608"/>
            <a:ext cx="15417938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3"/>
              </a:lnSpc>
              <a:spcBef>
                <a:spcPct val="0"/>
              </a:spcBef>
            </a:pPr>
            <a:r>
              <a:rPr lang="en-US" sz="12469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HACKCONQUEST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835489" y="5407991"/>
            <a:ext cx="1133259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  <a:spcBef>
                <a:spcPct val="0"/>
              </a:spcBef>
            </a:pPr>
            <a:r>
              <a:rPr lang="en-US" sz="100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HACKATHON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6795847" y="1703757"/>
            <a:ext cx="561980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0"/>
              </a:lnSpc>
              <a:spcBef>
                <a:spcPct val="0"/>
              </a:spcBef>
            </a:pPr>
            <a:r>
              <a:rPr lang="en-US" sz="97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AETHER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86455" y="6801614"/>
            <a:ext cx="423859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  <a:spcBef>
                <a:spcPct val="0"/>
              </a:spcBef>
            </a:pPr>
            <a:r>
              <a:rPr lang="en-US" sz="12000">
                <a:solidFill>
                  <a:srgbClr val="16598E"/>
                </a:solidFill>
                <a:latin typeface="Pierson Bold"/>
                <a:ea typeface="Pierson Bold"/>
                <a:cs typeface="Pierson Bold"/>
                <a:sym typeface="Pierson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5637967" y="470859"/>
            <a:ext cx="6543646" cy="14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TITLE PAGE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6" id="36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-10800000">
            <a:off x="-2835750" y="-514859"/>
            <a:ext cx="6076610" cy="4428682"/>
            <a:chOff x="0" y="0"/>
            <a:chExt cx="8102146" cy="5904910"/>
          </a:xfrm>
        </p:grpSpPr>
        <p:grpSp>
          <p:nvGrpSpPr>
            <p:cNvPr name="Group 46" id="46"/>
            <p:cNvGrpSpPr/>
            <p:nvPr/>
          </p:nvGrpSpPr>
          <p:grpSpPr>
            <a:xfrm rot="-10800000">
              <a:off x="1431790" y="0"/>
              <a:ext cx="6670356" cy="5904910"/>
              <a:chOff x="0" y="0"/>
              <a:chExt cx="870857" cy="770924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70857" cy="770924"/>
              </a:xfrm>
              <a:custGeom>
                <a:avLst/>
                <a:gdLst/>
                <a:ahLst/>
                <a:cxnLst/>
                <a:rect r="r" b="b" t="t" l="l"/>
                <a:pathLst>
                  <a:path h="770924" w="870857">
                    <a:moveTo>
                      <a:pt x="435429" y="770924"/>
                    </a:moveTo>
                    <a:lnTo>
                      <a:pt x="870857" y="0"/>
                    </a:lnTo>
                    <a:lnTo>
                      <a:pt x="0" y="0"/>
                    </a:lnTo>
                    <a:lnTo>
                      <a:pt x="435429" y="770924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36071" y="16966"/>
                <a:ext cx="598714" cy="396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10800000">
              <a:off x="0" y="4225293"/>
              <a:ext cx="6188825" cy="1367738"/>
              <a:chOff x="0" y="0"/>
              <a:chExt cx="1222484" cy="27017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222484" cy="270171"/>
              </a:xfrm>
              <a:custGeom>
                <a:avLst/>
                <a:gdLst/>
                <a:ahLst/>
                <a:cxnLst/>
                <a:rect r="r" b="b" t="t" l="l"/>
                <a:pathLst>
                  <a:path h="270171" w="1222484">
                    <a:moveTo>
                      <a:pt x="203200" y="0"/>
                    </a:moveTo>
                    <a:lnTo>
                      <a:pt x="1222484" y="0"/>
                    </a:lnTo>
                    <a:lnTo>
                      <a:pt x="1019284" y="270171"/>
                    </a:lnTo>
                    <a:lnTo>
                      <a:pt x="0" y="2701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1019284" cy="308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10800000">
              <a:off x="1844341" y="2216871"/>
              <a:ext cx="1661873" cy="1471167"/>
              <a:chOff x="0" y="0"/>
              <a:chExt cx="870857" cy="77092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70857" cy="770924"/>
              </a:xfrm>
              <a:custGeom>
                <a:avLst/>
                <a:gdLst/>
                <a:ahLst/>
                <a:cxnLst/>
                <a:rect r="r" b="b" t="t" l="l"/>
                <a:pathLst>
                  <a:path h="770924" w="870857">
                    <a:moveTo>
                      <a:pt x="435429" y="770924"/>
                    </a:moveTo>
                    <a:lnTo>
                      <a:pt x="870857" y="0"/>
                    </a:lnTo>
                    <a:lnTo>
                      <a:pt x="0" y="0"/>
                    </a:lnTo>
                    <a:lnTo>
                      <a:pt x="435429" y="770924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36071" y="16966"/>
                <a:ext cx="598714" cy="396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5" id="55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78819" y="1971675"/>
            <a:ext cx="15600000" cy="72866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0050" indent="-400050" lvl="1">
              <a:lnSpc>
                <a:spcPts val="3200"/>
              </a:lnSpc>
              <a:spcBef>
                <a:spcPts val="1000"/>
              </a:spcBef>
              <a:spcAft>
                <a:spcPts val="1200"/>
              </a:spcAft>
              <a:buFont typeface="Arial"/>
              <a:buChar char="•"/>
            </a:pPr>
            <a:r>
              <a:rPr b="1" sz="1600">
                <a:solidFill>
                  <a:srgbClr val="F59E0B"/>
                </a:solidFill>
              </a:rPr>
              <a:t>TEAM NAME: </a:t>
            </a:r>
            <a:r>
              <a:rPr b="0" sz="1600">
                <a:solidFill>
                  <a:srgbClr val="FFFFFF"/>
                </a:solidFill>
              </a:rPr>
              <a:t>CodeOhollic  (Adarsh Singh, Khushi Kumari, Shivam Raj)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9E0B"/>
                </a:solidFill>
              </a:rPr>
              <a:t>LEADER NAME: </a:t>
            </a:r>
            <a:r>
              <a:rPr b="0" sz="1600">
                <a:solidFill>
                  <a:srgbClr val="FFFFFF"/>
                </a:solidFill>
              </a:rPr>
              <a:t>Adarsh Singh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9E0B"/>
                </a:solidFill>
              </a:rPr>
              <a:t>COLLEGE NAME: </a:t>
            </a:r>
            <a:r>
              <a:rPr b="0" sz="1600">
                <a:solidFill>
                  <a:srgbClr val="FFFFFF"/>
                </a:solidFill>
              </a:rPr>
              <a:t>Bharati Vidyapeeth College of Engineering, Pune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9E0B"/>
                </a:solidFill>
              </a:rPr>
              <a:t>IDEA/ PROJECT TITLE: </a:t>
            </a:r>
            <a:r>
              <a:rPr b="0" sz="1600">
                <a:solidFill>
                  <a:srgbClr val="FFFFFF"/>
                </a:solidFill>
              </a:rPr>
              <a:t>Nagar Seva – AI &amp; Community-Driven Smart Civic Grievance Management Ecosystem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9E0B"/>
                </a:solidFill>
              </a:rPr>
              <a:t>THEME: </a:t>
            </a:r>
            <a:r>
              <a:rPr b="0" sz="1600">
                <a:solidFill>
                  <a:srgbClr val="FFFFFF"/>
                </a:solidFill>
              </a:rPr>
              <a:t>Smart City &amp; Governance (Civic Tech)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F59E0B"/>
                </a:solidFill>
              </a:rPr>
              <a:t>PROBLEM STATEMENT: </a:t>
            </a:r>
            <a:r>
              <a:rPr b="0" sz="1600">
                <a:solidFill>
                  <a:srgbClr val="FFFFFF"/>
                </a:solidFill>
              </a:rPr>
              <a:t>Citizens lack a frictionless, transparent way to report and track municipal hazards (potholes, leaks, broken lights, garbage). Existing systems suffer from login barriers, duplicate spam, zero tracking, and unverified closures.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661A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742482" y="950599"/>
            <a:ext cx="16350450" cy="141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PROBLEM STATEMENT &amp; </a:t>
            </a:r>
          </a:p>
          <a:p>
            <a:pPr algn="ctr">
              <a:lnSpc>
                <a:spcPts val="522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ROOT CAUSE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64173" y="2650000"/>
            <a:ext cx="16700000" cy="71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0050" indent="-400050" lvl="1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Font typeface="Arial"/>
              <a:buChar char="•"/>
            </a:pPr>
            <a:r>
              <a:rPr b="1" sz="1500">
                <a:solidFill>
                  <a:srgbClr val="EF4444"/>
                </a:solidFill>
              </a:rPr>
              <a:t>1. Scattered Channels &amp; Lost Redressal: </a:t>
            </a:r>
            <a:r>
              <a:rPr b="0" sz="1400">
                <a:solidFill>
                  <a:srgbClr val="FFFFFF"/>
                </a:solidFill>
              </a:rPr>
              <a:t>Potholes, water leaks, broken streetlights, and garbage dumps get reported through phone calls, offline paperwork, or lost in WhatsApp chats with zero audit trail.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EF4444"/>
                </a:solidFill>
              </a:rPr>
              <a:t>2. Friction-Heavy Login Walls: </a:t>
            </a:r>
            <a:r>
              <a:rPr b="0" sz="1400">
                <a:solidFill>
                  <a:srgbClr val="FFFFFF"/>
                </a:solidFill>
              </a:rPr>
              <a:t>Most municipal apps force citizens to register, set passwords, or enter Aadhaar/OTPs before reporting — friction that kills 80%+ of reporting intent on everyday hazards.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EF4444"/>
                </a:solidFill>
              </a:rPr>
              <a:t>3. The 'Black Hole' Tracking Issue: </a:t>
            </a:r>
            <a:r>
              <a:rPr b="0" sz="1400">
                <a:solidFill>
                  <a:srgbClr val="FFFFFF"/>
                </a:solidFill>
              </a:rPr>
              <a:t>Once filed, citizens have zero visibility into departmental routing, assigned officers, or SLA accountability, leading to widespread civic apathy.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EF4444"/>
                </a:solidFill>
              </a:rPr>
              <a:t>4. Uncontrolled Duplicate Ticket Spam: </a:t>
            </a:r>
            <a:r>
              <a:rPr b="0" sz="1400">
                <a:solidFill>
                  <a:srgbClr val="FFFFFF"/>
                </a:solidFill>
              </a:rPr>
              <a:t>When a civic issue occurs, dozens of neighbors file duplicate entries, overwhelming municipal department queues with redundant tickets.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EF4444"/>
                </a:solidFill>
              </a:rPr>
              <a:t>5. Unverified Ghost Closures: </a:t>
            </a:r>
            <a:r>
              <a:rPr b="0" sz="1400">
                <a:solidFill>
                  <a:srgbClr val="FFFFFF"/>
                </a:solidFill>
              </a:rPr>
              <a:t>Departments mark complaints as 'Resolved' without physical proof or citizen verification, leaving citizens with no proof the work was genuinely completed.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110088" y="1060752"/>
            <a:ext cx="13522204" cy="106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PROPOSED SOLUTION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401" y="2450000"/>
            <a:ext cx="15300000" cy="71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0050" indent="-400050" lvl="1">
              <a:lnSpc>
                <a:spcPct val="115000"/>
              </a:lnSpc>
              <a:spcBef>
                <a:spcPts val="1600"/>
              </a:spcBef>
              <a:spcAft>
                <a:spcPts val="1200"/>
              </a:spcAft>
              <a:buFont typeface="Arial"/>
              <a:buChar char="•"/>
            </a:pPr>
            <a:r>
              <a:rPr b="1" sz="1500">
                <a:solidFill>
                  <a:srgbClr val="10B981"/>
                </a:solidFill>
              </a:rPr>
              <a:t>Core Concept: </a:t>
            </a:r>
            <a:r>
              <a:rPr b="0" sz="1300">
                <a:solidFill>
                  <a:srgbClr val="FFFFFF"/>
                </a:solidFill>
              </a:rPr>
              <a:t>Nagar Seva is an AI-powered, full-loop MERN civic portal that enables any citizen to report municipal issues in seconds with 100% zero login, and tracks them through to an enforced, photo-verified resolution.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</a:rPr>
              <a:t>10 Unique Innovations: </a:t>
            </a:r>
            <a:r>
              <a:rPr b="0" sz="1300">
                <a:solidFill>
                  <a:srgbClr val="FFFFFF"/>
                </a:solidFill>
              </a:rPr>
              <a:t>• Zero-Login Filing with Photo/Voice &amp; OpenStreetMap Pin-Drop
• Real-time AI Category &amp; Urgency Classifier
• Smart Proximity Duplicate Merging (~300m cluster engine)
• 6-Hour Emergency SOS Matrix with pulsing alerts
• Nagar Feed: Public community stream with 'Affected Too (+1)' upvoting
• Interactive Before vs. After Resolution Proof Slider
• Dynamic Category SLA Countdown Timers (6h, 24h, 48h) with Overdue escalation
• 1-5 Star Citizen Satisfaction Ratings &amp; High-Priority Re-Open Workflow
• 7 Indian Regional Languages with instant speech recognition
• Civic Karma Points &amp; Top Champions Leaderboard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</a:rPr>
              <a:t>Functional Workflow: </a:t>
            </a:r>
            <a:r>
              <a:rPr b="0" sz="1300">
                <a:solidFill>
                  <a:srgbClr val="FFFFFF"/>
                </a:solidFill>
              </a:rPr>
              <a:t>Citizen files (Photo/Voice/GPS) → AI auto-classifies &amp; Proximity Engine merges duplicates → Auto-routed to department dashboard with live SLA countdown → Staff uploads proof-of-fix photo → Citizen rates work and views Before/After transformation on Nagar Feed.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344751" y="978130"/>
            <a:ext cx="12626062" cy="12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7"/>
              </a:lnSpc>
            </a:pPr>
            <a:r>
              <a:rPr lang="en-US" b="true" sz="5199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TECHNICAL ARCHITECTURE &amp; METHODOLOGY</a:t>
            </a:r>
          </a:p>
        </p:txBody>
      </p:sp>
      <p:sp>
        <p:nvSpPr>
          <p:cNvPr id="101" name="Text 101"/>
          <p:cNvSpPr txBox="true"/>
          <p:nvPr/>
        </p:nvSpPr>
        <p:spPr>
          <a:xfrm>
            <a:off x="1905401" y="2331720"/>
            <a:ext cx="15159654" cy="3200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4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102" name="Shape 102"/>
          <p:cNvSpPr/>
          <p:nvPr/>
        </p:nvSpPr>
        <p:spPr>
          <a:xfrm>
            <a:off x="1905401" y="2788920"/>
            <a:ext cx="4160520" cy="1051560"/>
          </a:xfrm>
          <a:prstGeom prst="roundRect">
            <a:avLst>
              <a:gd name="adj" fmla="val 10000"/>
            </a:avLst>
          </a:prstGeom>
          <a:solidFill>
            <a:srgbClr val="2E6FA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React 18 SPA</a:t>
            </a:r>
          </a:p>
          <a:p>
            <a:pPr algn="ctr"/>
            <a:r>
              <a:t>Vite + Leaflet Maps + Web Speech</a:t>
            </a:r>
          </a:p>
        </p:txBody>
      </p:sp>
      <p:sp>
        <p:nvSpPr>
          <p:cNvPr id="103" name="Text 103"/>
          <p:cNvSpPr txBox="true"/>
          <p:nvPr/>
        </p:nvSpPr>
        <p:spPr>
          <a:xfrm>
            <a:off x="6065921" y="2788920"/>
            <a:ext cx="502920" cy="1051560"/>
          </a:xfrm>
          <a:prstGeom prst="rect">
            <a:avLst/>
          </a:prstGeom>
        </p:spPr>
        <p:txBody>
          <a:bodyPr anchor="ctr" wrap="square" tIns="0" lIns="0" bIns="0" rIns="0">
            <a:noAutofit/>
          </a:bodyPr>
          <a:lstStyle/>
          <a:p>
            <a:pPr algn="ctr"/>
            <a:r>
              <a:rPr lang="en-US" b="1" sz="2400">
                <a:solidFill>
                  <a:srgbClr val="7C93AA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4" name="Shape 104"/>
          <p:cNvSpPr/>
          <p:nvPr/>
        </p:nvSpPr>
        <p:spPr>
          <a:xfrm>
            <a:off x="6568841" y="2788920"/>
            <a:ext cx="4160520" cy="1051560"/>
          </a:xfrm>
          <a:prstGeom prst="roundRect">
            <a:avLst>
              <a:gd name="adj" fmla="val 1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Express REST API</a:t>
            </a:r>
          </a:p>
          <a:p>
            <a:pPr algn="ctr"/>
            <a:r>
              <a:t>Node.js + Geo Clustering Engine</a:t>
            </a:r>
          </a:p>
        </p:txBody>
      </p:sp>
      <p:sp>
        <p:nvSpPr>
          <p:cNvPr id="105" name="Text 105"/>
          <p:cNvSpPr txBox="true"/>
          <p:nvPr/>
        </p:nvSpPr>
        <p:spPr>
          <a:xfrm>
            <a:off x="10729361" y="2788920"/>
            <a:ext cx="502920" cy="1051560"/>
          </a:xfrm>
          <a:prstGeom prst="rect">
            <a:avLst/>
          </a:prstGeom>
        </p:spPr>
        <p:txBody>
          <a:bodyPr anchor="ctr" wrap="square" tIns="0" lIns="0" bIns="0" rIns="0">
            <a:noAutofit/>
          </a:bodyPr>
          <a:lstStyle/>
          <a:p>
            <a:pPr algn="ctr"/>
            <a:r>
              <a:rPr lang="en-US" b="1" sz="2400">
                <a:solidFill>
                  <a:srgbClr val="7C93AA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6" name="Shape 106"/>
          <p:cNvSpPr/>
          <p:nvPr/>
        </p:nvSpPr>
        <p:spPr>
          <a:xfrm>
            <a:off x="11232281" y="2788920"/>
            <a:ext cx="4160520" cy="1051560"/>
          </a:xfrm>
          <a:prstGeom prst="roundRect">
            <a:avLst>
              <a:gd name="adj" fmla="val 10000"/>
            </a:avLst>
          </a:prstGeom>
          <a:solidFill>
            <a:srgbClr val="5B7FA6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MongoDB Atlas M0</a:t>
            </a:r>
          </a:p>
          <a:p>
            <a:pPr algn="ctr"/>
            <a:r>
              <a:t>Mongoose ODM + Geo Indexes</a:t>
            </a:r>
          </a:p>
        </p:txBody>
      </p:sp>
      <p:sp>
        <p:nvSpPr>
          <p:cNvPr id="107" name="Text 107"/>
          <p:cNvSpPr txBox="true"/>
          <p:nvPr/>
        </p:nvSpPr>
        <p:spPr>
          <a:xfrm>
            <a:off x="1905401" y="3950208"/>
            <a:ext cx="15159654" cy="3200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t>/uploads — Static storage for Citizen Photos, Voice Notes, and Proof-of-Fix Images</a:t>
            </a:r>
          </a:p>
        </p:txBody>
      </p:sp>
      <p:sp>
        <p:nvSpPr>
          <p:cNvPr id="108" name="Text 108"/>
          <p:cNvSpPr txBox="true"/>
          <p:nvPr/>
        </p:nvSpPr>
        <p:spPr>
          <a:xfrm>
            <a:off x="1905401" y="4407408"/>
            <a:ext cx="15159654" cy="3200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4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TECH STACK</a:t>
            </a:r>
          </a:p>
        </p:txBody>
      </p:sp>
      <p:sp>
        <p:nvSpPr>
          <p:cNvPr id="109" name="Text 109"/>
          <p:cNvSpPr txBox="true"/>
          <p:nvPr/>
        </p:nvSpPr>
        <p:spPr>
          <a:xfrm>
            <a:off x="1905401" y="4791456"/>
            <a:ext cx="2894770" cy="2743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3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Frontend</a:t>
            </a:r>
          </a:p>
        </p:txBody>
      </p:sp>
      <p:sp>
        <p:nvSpPr>
          <p:cNvPr id="110" name="Shape 110"/>
          <p:cNvSpPr/>
          <p:nvPr/>
        </p:nvSpPr>
        <p:spPr>
          <a:xfrm>
            <a:off x="1905401" y="5138928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2E6FA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React 18 / Vite</a:t>
            </a:r>
          </a:p>
        </p:txBody>
      </p:sp>
      <p:sp>
        <p:nvSpPr>
          <p:cNvPr id="111" name="Shape 111"/>
          <p:cNvSpPr/>
          <p:nvPr/>
        </p:nvSpPr>
        <p:spPr>
          <a:xfrm>
            <a:off x="1905401" y="5632704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2E6FA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Leaflet OpenStreetMap</a:t>
            </a:r>
          </a:p>
        </p:txBody>
      </p:sp>
      <p:sp>
        <p:nvSpPr>
          <p:cNvPr id="112" name="Shape 112"/>
          <p:cNvSpPr/>
          <p:nvPr/>
        </p:nvSpPr>
        <p:spPr>
          <a:xfrm>
            <a:off x="1905401" y="6126480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2E6FA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Tailwind CSS v3</a:t>
            </a:r>
          </a:p>
        </p:txBody>
      </p:sp>
      <p:sp>
        <p:nvSpPr>
          <p:cNvPr id="113" name="Shape 113"/>
          <p:cNvSpPr/>
          <p:nvPr/>
        </p:nvSpPr>
        <p:spPr>
          <a:xfrm>
            <a:off x="1905401" y="6620256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2E6FA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Web Speech API</a:t>
            </a:r>
          </a:p>
        </p:txBody>
      </p:sp>
      <p:sp>
        <p:nvSpPr>
          <p:cNvPr id="114" name="Text 114"/>
          <p:cNvSpPr txBox="true"/>
          <p:nvPr/>
        </p:nvSpPr>
        <p:spPr>
          <a:xfrm>
            <a:off x="4937331" y="4791456"/>
            <a:ext cx="2894770" cy="2743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3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Backend</a:t>
            </a:r>
          </a:p>
        </p:txBody>
      </p:sp>
      <p:sp>
        <p:nvSpPr>
          <p:cNvPr id="115" name="Shape 115"/>
          <p:cNvSpPr/>
          <p:nvPr/>
        </p:nvSpPr>
        <p:spPr>
          <a:xfrm>
            <a:off x="4937331" y="5138928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</a:t>
            </a:r>
          </a:p>
        </p:txBody>
      </p:sp>
      <p:sp>
        <p:nvSpPr>
          <p:cNvPr id="116" name="Shape 116"/>
          <p:cNvSpPr/>
          <p:nvPr/>
        </p:nvSpPr>
        <p:spPr>
          <a:xfrm>
            <a:off x="4937331" y="5632704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Express.js</a:t>
            </a:r>
          </a:p>
        </p:txBody>
      </p:sp>
      <p:sp>
        <p:nvSpPr>
          <p:cNvPr id="117" name="Text 117"/>
          <p:cNvSpPr txBox="true"/>
          <p:nvPr/>
        </p:nvSpPr>
        <p:spPr>
          <a:xfrm>
            <a:off x="7969261" y="4791456"/>
            <a:ext cx="2894770" cy="2743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3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Database</a:t>
            </a:r>
          </a:p>
        </p:txBody>
      </p:sp>
      <p:sp>
        <p:nvSpPr>
          <p:cNvPr id="118" name="Shape 118"/>
          <p:cNvSpPr/>
          <p:nvPr/>
        </p:nvSpPr>
        <p:spPr>
          <a:xfrm>
            <a:off x="7969261" y="5138928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5B7FA6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MongoDB</a:t>
            </a:r>
          </a:p>
        </p:txBody>
      </p:sp>
      <p:sp>
        <p:nvSpPr>
          <p:cNvPr id="119" name="Shape 119"/>
          <p:cNvSpPr/>
          <p:nvPr/>
        </p:nvSpPr>
        <p:spPr>
          <a:xfrm>
            <a:off x="7969261" y="5632704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5B7FA6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Mongoose ODM</a:t>
            </a:r>
          </a:p>
        </p:txBody>
      </p:sp>
      <p:sp>
        <p:nvSpPr>
          <p:cNvPr id="120" name="Text 120"/>
          <p:cNvSpPr txBox="true"/>
          <p:nvPr/>
        </p:nvSpPr>
        <p:spPr>
          <a:xfrm>
            <a:off x="11001191" y="4791456"/>
            <a:ext cx="2894770" cy="2743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3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Auth</a:t>
            </a:r>
          </a:p>
        </p:txBody>
      </p:sp>
      <p:sp>
        <p:nvSpPr>
          <p:cNvPr id="121" name="Shape 121"/>
          <p:cNvSpPr/>
          <p:nvPr/>
        </p:nvSpPr>
        <p:spPr>
          <a:xfrm>
            <a:off x="11001191" y="5138928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0F3D6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JWT</a:t>
            </a:r>
          </a:p>
        </p:txBody>
      </p:sp>
      <p:sp>
        <p:nvSpPr>
          <p:cNvPr id="122" name="Shape 122"/>
          <p:cNvSpPr/>
          <p:nvPr/>
        </p:nvSpPr>
        <p:spPr>
          <a:xfrm>
            <a:off x="11001191" y="5632704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0F3D63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bcrypt</a:t>
            </a:r>
          </a:p>
        </p:txBody>
      </p:sp>
      <p:sp>
        <p:nvSpPr>
          <p:cNvPr id="123" name="Text 123"/>
          <p:cNvSpPr txBox="true"/>
          <p:nvPr/>
        </p:nvSpPr>
        <p:spPr>
          <a:xfrm>
            <a:off x="14033121" y="4791456"/>
            <a:ext cx="2894770" cy="2743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3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Uploads &amp; Geo</a:t>
            </a:r>
          </a:p>
        </p:txBody>
      </p:sp>
      <p:sp>
        <p:nvSpPr>
          <p:cNvPr id="124" name="Shape 124"/>
          <p:cNvSpPr/>
          <p:nvPr/>
        </p:nvSpPr>
        <p:spPr>
          <a:xfrm>
            <a:off x="14033121" y="5138928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7C93AA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Multer (Media)</a:t>
            </a:r>
          </a:p>
        </p:txBody>
      </p:sp>
      <p:sp>
        <p:nvSpPr>
          <p:cNvPr id="125" name="Shape 125"/>
          <p:cNvSpPr/>
          <p:nvPr/>
        </p:nvSpPr>
        <p:spPr>
          <a:xfrm>
            <a:off x="14033121" y="5632704"/>
            <a:ext cx="2803330" cy="384048"/>
          </a:xfrm>
          <a:prstGeom prst="roundRect">
            <a:avLst>
              <a:gd name="adj" fmla="val 25000"/>
            </a:avLst>
          </a:prstGeom>
          <a:solidFill>
            <a:srgbClr val="7C93AA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t>Geo Proximity Engine</a:t>
            </a:r>
          </a:p>
        </p:txBody>
      </p:sp>
      <p:sp>
        <p:nvSpPr>
          <p:cNvPr id="126" name="Text 126"/>
          <p:cNvSpPr txBox="true"/>
          <p:nvPr/>
        </p:nvSpPr>
        <p:spPr>
          <a:xfrm>
            <a:off x="1905401" y="7278624"/>
            <a:ext cx="15159654" cy="3200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l"/>
            <a:r>
              <a:rPr lang="en-US" b="1" sz="140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END-TO-END WORKFLOW</a:t>
            </a:r>
          </a:p>
        </p:txBody>
      </p:sp>
      <p:sp>
        <p:nvSpPr>
          <p:cNvPr id="127" name="Shape 127"/>
          <p:cNvSpPr/>
          <p:nvPr/>
        </p:nvSpPr>
        <p:spPr>
          <a:xfrm>
            <a:off x="3192766" y="7690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b="1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8" name="Text 128"/>
          <p:cNvSpPr txBox="true"/>
          <p:nvPr/>
        </p:nvSpPr>
        <p:spPr>
          <a:xfrm>
            <a:off x="1951121" y="8220456"/>
            <a:ext cx="2849050" cy="5029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rPr lang="en-US" b="1" sz="125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Citizen files complaint</a:t>
            </a:r>
          </a:p>
        </p:txBody>
      </p:sp>
      <p:sp>
        <p:nvSpPr>
          <p:cNvPr id="129" name="Text 129"/>
          <p:cNvSpPr txBox="true"/>
          <p:nvPr/>
        </p:nvSpPr>
        <p:spPr>
          <a:xfrm>
            <a:off x="1951121" y="8677656"/>
            <a:ext cx="2849050" cy="10058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t>Photo + Voice + GPS Pin + AI category suggestion — Zero login.</a:t>
            </a:r>
          </a:p>
        </p:txBody>
      </p:sp>
      <p:sp>
        <p:nvSpPr>
          <p:cNvPr id="130" name="Shape 130"/>
          <p:cNvSpPr/>
          <p:nvPr/>
        </p:nvSpPr>
        <p:spPr>
          <a:xfrm>
            <a:off x="6224696" y="7690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b="1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1" name="Text 131"/>
          <p:cNvSpPr txBox="true"/>
          <p:nvPr/>
        </p:nvSpPr>
        <p:spPr>
          <a:xfrm>
            <a:off x="4983051" y="8220456"/>
            <a:ext cx="2849050" cy="5029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rPr lang="en-US" b="1" sz="125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Auto-assigned to dept.</a:t>
            </a:r>
          </a:p>
        </p:txBody>
      </p:sp>
      <p:sp>
        <p:nvSpPr>
          <p:cNvPr id="132" name="Text 132"/>
          <p:cNvSpPr txBox="true"/>
          <p:nvPr/>
        </p:nvSpPr>
        <p:spPr>
          <a:xfrm>
            <a:off x="4983051" y="8677656"/>
            <a:ext cx="2849050" cy="10058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t>Auto-assigned &amp; nearby duplicate reports merged into cluster.</a:t>
            </a:r>
          </a:p>
        </p:txBody>
      </p:sp>
      <p:sp>
        <p:nvSpPr>
          <p:cNvPr id="133" name="Shape 133"/>
          <p:cNvSpPr/>
          <p:nvPr/>
        </p:nvSpPr>
        <p:spPr>
          <a:xfrm>
            <a:off x="9256626" y="7690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b="1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4" name="Text 134"/>
          <p:cNvSpPr txBox="true"/>
          <p:nvPr/>
        </p:nvSpPr>
        <p:spPr>
          <a:xfrm>
            <a:off x="8014981" y="8220456"/>
            <a:ext cx="2849050" cy="5029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rPr lang="en-US" b="1" sz="125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Staff updates status</a:t>
            </a:r>
          </a:p>
        </p:txBody>
      </p:sp>
      <p:sp>
        <p:nvSpPr>
          <p:cNvPr id="135" name="Text 135"/>
          <p:cNvSpPr txBox="true"/>
          <p:nvPr/>
        </p:nvSpPr>
        <p:spPr>
          <a:xfrm>
            <a:off x="8014981" y="8677656"/>
            <a:ext cx="2849050" cy="10058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t>Department dashboard tracks live SLA countdown timer.</a:t>
            </a:r>
          </a:p>
        </p:txBody>
      </p:sp>
      <p:sp>
        <p:nvSpPr>
          <p:cNvPr id="136" name="Shape 136"/>
          <p:cNvSpPr/>
          <p:nvPr/>
        </p:nvSpPr>
        <p:spPr>
          <a:xfrm>
            <a:off x="12288556" y="7690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b="1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7" name="Text 137"/>
          <p:cNvSpPr txBox="true"/>
          <p:nvPr/>
        </p:nvSpPr>
        <p:spPr>
          <a:xfrm>
            <a:off x="11046911" y="8220456"/>
            <a:ext cx="2849050" cy="5029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rPr lang="en-US" b="1" sz="125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Proof-of-fix required</a:t>
            </a:r>
          </a:p>
        </p:txBody>
      </p:sp>
      <p:sp>
        <p:nvSpPr>
          <p:cNvPr id="138" name="Text 138"/>
          <p:cNvSpPr txBox="true"/>
          <p:nvPr/>
        </p:nvSpPr>
        <p:spPr>
          <a:xfrm>
            <a:off x="11046911" y="8677656"/>
            <a:ext cx="2849050" cy="10058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t>Staff must upload proof-of-fix photo to mark 'Resolved'.</a:t>
            </a:r>
          </a:p>
        </p:txBody>
      </p:sp>
      <p:sp>
        <p:nvSpPr>
          <p:cNvPr id="139" name="Shape 139"/>
          <p:cNvSpPr/>
          <p:nvPr/>
        </p:nvSpPr>
        <p:spPr>
          <a:xfrm>
            <a:off x="15320486" y="76901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598E"/>
          </a:solidFill>
          <a:ln>
            <a:noFill/>
          </a:ln>
        </p:spPr>
        <p:txBody>
          <a:bodyPr anchor="ctr" wrap="square" tIns="18000" lIns="45000" bIns="18000" rIns="45000">
            <a:noAutofit/>
          </a:bodyPr>
          <a:lstStyle/>
          <a:p>
            <a:pPr algn="ctr"/>
            <a:r>
              <a:rPr lang="en-US" b="1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40" name="Text 140"/>
          <p:cNvSpPr txBox="true"/>
          <p:nvPr/>
        </p:nvSpPr>
        <p:spPr>
          <a:xfrm>
            <a:off x="14078841" y="8220456"/>
            <a:ext cx="2849050" cy="50292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rPr lang="en-US" b="1" sz="1250">
                <a:solidFill>
                  <a:srgbClr val="16598E"/>
                </a:solidFill>
                <a:latin typeface="Calibri"/>
                <a:ea typeface="Calibri"/>
                <a:cs typeface="Calibri"/>
              </a:rPr>
              <a:t>Citizen tracks by ID</a:t>
            </a:r>
          </a:p>
        </p:txBody>
      </p:sp>
      <p:sp>
        <p:nvSpPr>
          <p:cNvPr id="141" name="Text 141"/>
          <p:cNvSpPr txBox="true"/>
          <p:nvPr/>
        </p:nvSpPr>
        <p:spPr>
          <a:xfrm>
            <a:off x="14078841" y="8677656"/>
            <a:ext cx="2849050" cy="1005840"/>
          </a:xfrm>
          <a:prstGeom prst="rect">
            <a:avLst/>
          </a:prstGeom>
        </p:spPr>
        <p:txBody>
          <a:bodyPr anchor="t" wrap="square" tIns="0" lIns="0" bIns="0" rIns="0">
            <a:noAutofit/>
          </a:bodyPr>
          <a:lstStyle/>
          <a:p>
            <a:pPr algn="ctr"/>
            <a:r>
              <a:t>Citizen rates 1-5★, Before/After slider goes live on Nagar Feed.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13750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644000" y="914400"/>
            <a:ext cx="9000000" cy="97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 b="true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IMPACT &amp; BENEFIT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5401" y="2450000"/>
            <a:ext cx="15300000" cy="81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0050" indent="-400050" lvl="1">
              <a:lnSpc>
                <a:spcPct val="112000"/>
              </a:lnSpc>
              <a:spcBef>
                <a:spcPts val="1600"/>
              </a:spcBef>
              <a:spcAft>
                <a:spcPts val="1000"/>
              </a:spcAft>
              <a:buFont typeface="Arial"/>
              <a:buChar char="•"/>
            </a:pPr>
            <a:r>
              <a:rPr b="1" sz="1400">
                <a:solidFill>
                  <a:srgbClr val="F59E0B"/>
                </a:solidFill>
              </a:rPr>
              <a:t>Measurable Impact: </a:t>
            </a:r>
            <a:r>
              <a:rPr b="0" sz="1300">
                <a:solidFill>
                  <a:srgbClr val="FFFFFF"/>
                </a:solidFill>
              </a:rPr>
              <a:t>80% reduction in complaint filing time with zero-login workflow • 60% faster resolution with automated SLA countdown timers • 100% verified physical repair proof eliminating ghost closures.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59E0B"/>
                </a:solidFill>
              </a:rPr>
              <a:t>Zero-Cost Feasibility: </a:t>
            </a:r>
            <a:r>
              <a:rPr b="0" sz="1300">
                <a:solidFill>
                  <a:srgbClr val="FFFFFF"/>
                </a:solidFill>
              </a:rPr>
              <a:t>Built 100% on the free, open-source MERN stack; runs on free-tier cloud infrastructure (MongoDB Atlas M0, Render hosting) and OpenStreetMap tiles — ₹0 recurring software licensing cost.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59E0B"/>
                </a:solidFill>
              </a:rPr>
              <a:t>Anti-Spam &amp; Fraud Guards: </a:t>
            </a:r>
            <a:r>
              <a:rPr b="0" sz="1300">
                <a:solidFill>
                  <a:srgbClr val="FFFFFF"/>
                </a:solidFill>
              </a:rPr>
              <a:t>Anonymous reporting secured by GPS location validation, image MIME/size validation (10MB max), single-voter upvote tracking, and automated proximity clustering that merges duplicate spam.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59E0B"/>
                </a:solidFill>
              </a:rPr>
              <a:t>Live Superpowers (100% Built &amp; Working!): </a:t>
            </a:r>
            <a:r>
              <a:rPr b="0" sz="1300">
                <a:solidFill>
                  <a:srgbClr val="FFFFFF"/>
                </a:solidFill>
              </a:rPr>
              <a:t>• 7 Regional Languages + Voice Dictation • AI Category &amp; Urgency Classifier • OpenStreetMap &amp; City Heatmap • Proximity Duplicate Merging (~300m) • Nagar Feed &amp; (+1) Upvotes • Before vs. After Comparison Slider • Dynamic SLA Timers • Star Ratings &amp; High-Priority Re-Open • Civic Karma Leaderboard • Public Municipal Alerts Ticker.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F59E0B"/>
                </a:solidFill>
              </a:rPr>
              <a:t>Future Roadmap: </a:t>
            </a:r>
            <a:r>
              <a:rPr b="0" sz="1300">
                <a:solidFill>
                  <a:srgbClr val="FFFFFF"/>
                </a:solidFill>
              </a:rPr>
              <a:t>National CPGRAMS portal integration, Smart City ICCC command center feeds, and offline PWA mobile app.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BFBFB">
                <a:alpha val="100000"/>
              </a:srgbClr>
            </a:gs>
            <a:gs pos="33333">
              <a:srgbClr val="F1F1F1">
                <a:alpha val="66500"/>
              </a:srgbClr>
            </a:gs>
            <a:gs pos="66667">
              <a:srgbClr val="E9E9E9">
                <a:alpha val="67000"/>
              </a:srgbClr>
            </a:gs>
            <a:gs pos="100000">
              <a:srgbClr val="E0E1E3">
                <a:alpha val="2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39392">
            <a:off x="-5599131" y="-3928144"/>
            <a:ext cx="29486263" cy="18143288"/>
            <a:chOff x="0" y="0"/>
            <a:chExt cx="39315017" cy="24191051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10693806" y="89086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21387611" y="0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4" y="12738888"/>
                  </a:lnTo>
                  <a:lnTo>
                    <a:pt x="13700314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25614703" y="9670425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4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4" y="12738888"/>
                  </a:lnTo>
                  <a:lnTo>
                    <a:pt x="13700314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4920898" y="10561294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true" rot="0">
              <a:off x="0" y="1781739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0" y="12738888"/>
                  </a:moveTo>
                  <a:lnTo>
                    <a:pt x="13700313" y="12738888"/>
                  </a:lnTo>
                  <a:lnTo>
                    <a:pt x="13700313" y="0"/>
                  </a:lnTo>
                  <a:lnTo>
                    <a:pt x="0" y="0"/>
                  </a:lnTo>
                  <a:lnTo>
                    <a:pt x="0" y="12738888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0">
              <a:off x="4227092" y="11452163"/>
              <a:ext cx="13700313" cy="12738888"/>
            </a:xfrm>
            <a:custGeom>
              <a:avLst/>
              <a:gdLst/>
              <a:ahLst/>
              <a:cxnLst/>
              <a:rect r="r" b="b" t="t" l="l"/>
              <a:pathLst>
                <a:path h="12738888" w="13700313">
                  <a:moveTo>
                    <a:pt x="13700313" y="0"/>
                  </a:moveTo>
                  <a:lnTo>
                    <a:pt x="0" y="0"/>
                  </a:lnTo>
                  <a:lnTo>
                    <a:pt x="0" y="12738888"/>
                  </a:lnTo>
                  <a:lnTo>
                    <a:pt x="13700313" y="12738888"/>
                  </a:lnTo>
                  <a:lnTo>
                    <a:pt x="13700313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28767" y="360263"/>
            <a:ext cx="17630466" cy="9566473"/>
            <a:chOff x="0" y="0"/>
            <a:chExt cx="23507288" cy="1275529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7832412"/>
              <a:ext cx="63500" cy="4922886"/>
              <a:chOff x="0" y="0"/>
              <a:chExt cx="12543" cy="97242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6920832" y="5834466"/>
              <a:ext cx="63500" cy="13778164"/>
              <a:chOff x="0" y="0"/>
              <a:chExt cx="12543" cy="27216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10800000">
              <a:off x="23443788" y="0"/>
              <a:ext cx="63500" cy="4922886"/>
              <a:chOff x="0" y="0"/>
              <a:chExt cx="12543" cy="9724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43" cy="972422"/>
              </a:xfrm>
              <a:custGeom>
                <a:avLst/>
                <a:gdLst/>
                <a:ahLst/>
                <a:cxnLst/>
                <a:rect r="r" b="b" t="t" l="l"/>
                <a:pathLst>
                  <a:path h="972422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972422"/>
                    </a:lnTo>
                    <a:lnTo>
                      <a:pt x="0" y="972422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543" cy="1010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16522956" y="-6857332"/>
              <a:ext cx="63500" cy="13778164"/>
              <a:chOff x="0" y="0"/>
              <a:chExt cx="12543" cy="27216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43" cy="2721613"/>
              </a:xfrm>
              <a:custGeom>
                <a:avLst/>
                <a:gdLst/>
                <a:ahLst/>
                <a:cxnLst/>
                <a:rect r="r" b="b" t="t" l="l"/>
                <a:pathLst>
                  <a:path h="2721613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2721613"/>
                    </a:lnTo>
                    <a:lnTo>
                      <a:pt x="0" y="2721613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2543" cy="2759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800000">
              <a:off x="22957231" y="413305"/>
              <a:ext cx="63500" cy="1669468"/>
              <a:chOff x="0" y="0"/>
              <a:chExt cx="12543" cy="32977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20138971" y="-2378926"/>
              <a:ext cx="63500" cy="5647961"/>
              <a:chOff x="0" y="0"/>
              <a:chExt cx="12543" cy="11156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86556" y="10672525"/>
              <a:ext cx="63500" cy="1669468"/>
              <a:chOff x="0" y="0"/>
              <a:chExt cx="12543" cy="3297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43" cy="329771"/>
              </a:xfrm>
              <a:custGeom>
                <a:avLst/>
                <a:gdLst/>
                <a:ahLst/>
                <a:cxnLst/>
                <a:rect r="r" b="b" t="t" l="l"/>
                <a:pathLst>
                  <a:path h="329771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329771"/>
                    </a:lnTo>
                    <a:lnTo>
                      <a:pt x="0" y="329771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543" cy="36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5400000">
              <a:off x="3304817" y="9486262"/>
              <a:ext cx="63500" cy="5647961"/>
              <a:chOff x="0" y="0"/>
              <a:chExt cx="12543" cy="111564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543" cy="1115647"/>
              </a:xfrm>
              <a:custGeom>
                <a:avLst/>
                <a:gdLst/>
                <a:ahLst/>
                <a:cxnLst/>
                <a:rect r="r" b="b" t="t" l="l"/>
                <a:pathLst>
                  <a:path h="1115647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1115647"/>
                    </a:lnTo>
                    <a:lnTo>
                      <a:pt x="0" y="1115647"/>
                    </a:lnTo>
                    <a:close/>
                  </a:path>
                </a:pathLst>
              </a:custGeom>
              <a:solidFill>
                <a:srgbClr val="17415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2543" cy="11537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3955824" y="6587618"/>
            <a:ext cx="6666800" cy="4085592"/>
            <a:chOff x="0" y="0"/>
            <a:chExt cx="8889067" cy="5447455"/>
          </a:xfrm>
        </p:grpSpPr>
        <p:grpSp>
          <p:nvGrpSpPr>
            <p:cNvPr name="Group 35" id="3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10800000">
            <a:off x="-2304700" y="-378866"/>
            <a:ext cx="6666800" cy="4085592"/>
            <a:chOff x="0" y="0"/>
            <a:chExt cx="8889067" cy="5447455"/>
          </a:xfrm>
        </p:grpSpPr>
        <p:grpSp>
          <p:nvGrpSpPr>
            <p:cNvPr name="Group 45" id="45"/>
            <p:cNvGrpSpPr/>
            <p:nvPr/>
          </p:nvGrpSpPr>
          <p:grpSpPr>
            <a:xfrm rot="-10800000">
              <a:off x="2663403" y="0"/>
              <a:ext cx="6225663" cy="5447455"/>
              <a:chOff x="0" y="0"/>
              <a:chExt cx="812800" cy="711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6598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-10800000">
              <a:off x="0" y="3821268"/>
              <a:ext cx="5776235" cy="1261779"/>
              <a:chOff x="0" y="0"/>
              <a:chExt cx="1140985" cy="2492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0985" cy="249240"/>
              </a:xfrm>
              <a:custGeom>
                <a:avLst/>
                <a:gdLst/>
                <a:ahLst/>
                <a:cxnLst/>
                <a:rect r="r" b="b" t="t" l="l"/>
                <a:pathLst>
                  <a:path h="249240" w="1140985">
                    <a:moveTo>
                      <a:pt x="203200" y="0"/>
                    </a:moveTo>
                    <a:lnTo>
                      <a:pt x="1140985" y="0"/>
                    </a:lnTo>
                    <a:lnTo>
                      <a:pt x="937785" y="249240"/>
                    </a:lnTo>
                    <a:lnTo>
                      <a:pt x="0" y="24924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88A5C4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937785" cy="2873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-10800000">
              <a:off x="3094536" y="2203713"/>
              <a:ext cx="1551081" cy="1357196"/>
              <a:chOff x="0" y="0"/>
              <a:chExt cx="812800" cy="7112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A5B4C7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54" id="54"/>
          <p:cNvSpPr/>
          <p:nvPr/>
        </p:nvSpPr>
        <p:spPr>
          <a:xfrm flipH="false" flipV="false" rot="0">
            <a:off x="6554802" y="2610246"/>
            <a:ext cx="5860852" cy="6020168"/>
          </a:xfrm>
          <a:custGeom>
            <a:avLst/>
            <a:gdLst/>
            <a:ahLst/>
            <a:cxnLst/>
            <a:rect r="r" b="b" t="t" l="l"/>
            <a:pathLst>
              <a:path h="6020168" w="5860852">
                <a:moveTo>
                  <a:pt x="0" y="0"/>
                </a:moveTo>
                <a:lnTo>
                  <a:pt x="5860852" y="0"/>
                </a:lnTo>
                <a:lnTo>
                  <a:pt x="5860852" y="6020168"/>
                </a:lnTo>
                <a:lnTo>
                  <a:pt x="0" y="6020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19583" t="-43365" r="-19583" b="-5297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144000" y="914400"/>
            <a:ext cx="12000000" cy="95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6598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REFERENCE &amp; CONCLUSION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64173" y="2850000"/>
            <a:ext cx="15900000" cy="6300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400050" indent="-400050" lvl="1"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  <a:buFont typeface="Arial"/>
              <a:buChar char="•"/>
            </a:pPr>
            <a:r>
              <a:rPr b="1" sz="1400">
                <a:solidFill>
                  <a:srgbClr val="10B981"/>
                </a:solidFill>
              </a:rPr>
              <a:t>GitHub Repository: </a:t>
            </a:r>
            <a:r>
              <a:rPr b="0" sz="1300">
                <a:solidFill>
                  <a:srgbClr val="FFFFFF"/>
                </a:solidFill>
              </a:rPr>
              <a:t>github.com/adarshsingh022006-tech/Nagar-Seva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B981"/>
                </a:solidFill>
              </a:rPr>
              <a:t>Live Production Web App: </a:t>
            </a:r>
            <a:r>
              <a:rPr b="0" sz="1300">
                <a:solidFill>
                  <a:srgbClr val="FFFFFF"/>
                </a:solidFill>
              </a:rPr>
              <a:t>https://nagar-seva-1-l8h5.onrender.com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B981"/>
                </a:solidFill>
              </a:rPr>
              <a:t>Nagar Community Feed: </a:t>
            </a:r>
            <a:r>
              <a:rPr b="0" sz="1300">
                <a:solidFill>
                  <a:srgbClr val="FFFFFF"/>
                </a:solidFill>
              </a:rPr>
              <a:t>https://nagar-seva-1-l8h5.onrender.com/feed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B981"/>
                </a:solidFill>
              </a:rPr>
              <a:t>Demo Officer Logins: </a:t>
            </a:r>
            <a:r>
              <a:rPr b="0" sz="1300">
                <a:solidFill>
                  <a:srgbClr val="FFFFFF"/>
                </a:solidFill>
              </a:rPr>
              <a:t>admin/admin123 (Master Admin) • roads_dept/dept123 • water_dept/dept123 • sanitation_dept/dept123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B981"/>
                </a:solidFill>
              </a:rPr>
              <a:t>References: </a:t>
            </a:r>
            <a:r>
              <a:rPr b="0" sz="1300">
                <a:solidFill>
                  <a:srgbClr val="FFFFFF"/>
                </a:solidFill>
              </a:rPr>
              <a:t>MongoDB &amp; Mongoose docs • React 18 &amp; Vite docs • Express.js guide • Tailwind CSS • Leaflet OpenStreetMap • Web Speech API reference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B981"/>
                </a:solidFill>
              </a:rPr>
              <a:t>Conclusion: </a:t>
            </a:r>
            <a:r>
              <a:rPr b="0" sz="1300">
                <a:solidFill>
                  <a:srgbClr val="FFFFFF"/>
                </a:solidFill>
              </a:rPr>
              <a:t>Nagar Seva bridges the trust gap between citizens and municipal authorities through frictionless filing, AI acceleration, geospatial clustering, and community-verified accountability — built on a 100% free and open-source stack.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DAHUtnVFVn0</dc:identifier>
  <dcterms:modified xsi:type="dcterms:W3CDTF">2011-08-01T06:04:30Z</dcterms:modified>
  <cp:revision>1</cp:revision>
  <dc:title>HACKCONQUEST HACKATHON_</dc:title>
</cp:coreProperties>
</file>